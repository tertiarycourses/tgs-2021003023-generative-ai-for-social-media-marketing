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25.0</c:v>
                </c:pt>
                <c:pt idx="2">
                  <c:v>32.0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210.0</c:v>
                </c:pt>
                <c:pt idx="1">
                  <c:v>260.0</c:v>
                </c:pt>
                <c:pt idx="2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2.1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65.0</c:v>
                </c:pt>
                <c:pt idx="2">
                  <c:v>81.0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actions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Usable drafts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approved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8.0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Opt-in advocates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15.0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28.0</c:v>
                </c:pt>
                <c:pt idx="2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58.0</c:v>
                </c:pt>
                <c:pt idx="1">
                  <c:v>72.0</c:v>
                </c:pt>
                <c:pt idx="2">
                  <c:v>83.0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49.0</c:v>
                </c:pt>
                <c:pt idx="2">
                  <c:v>62.0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12.0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24.0</c:v>
                </c:pt>
                <c:pt idx="1">
                  <c:v>35.0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reach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1200.0</c:v>
                </c:pt>
                <c:pt idx="1">
                  <c:v>1600.0</c:v>
                </c:pt>
                <c:pt idx="2">
                  <c:v>1950.0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Local relevance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</c:v>
                </c:pt>
                <c:pt idx="1">
                  <c:v>76.0</c:v>
                </c:pt>
                <c:pt idx="2">
                  <c:v>88.0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34.0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Consented events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</c:v>
                </c:pt>
                <c:pt idx="1">
                  <c:v>65.0</c:v>
                </c:pt>
                <c:pt idx="2">
                  <c:v>86.0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1.5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1.9</c:v>
                </c:pt>
                <c:pt idx="2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Discovery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90.0</c:v>
                </c:pt>
                <c:pt idx="1">
                  <c:v>130.0</c:v>
                </c:pt>
                <c:pt idx="2">
                  <c:v>170.0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Asset approval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65.0</c:v>
                </c:pt>
                <c:pt idx="2">
                  <c:v>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</c:v>
                </c:pt>
                <c:pt idx="1">
                  <c:v>39.0</c:v>
                </c:pt>
                <c:pt idx="2">
                  <c:v>51.0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clicks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56.0</c:v>
                </c:pt>
                <c:pt idx="2">
                  <c:v>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lead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34.0</c:v>
                </c:pt>
                <c:pt idx="1">
                  <c:v>28.0</c:v>
                </c:pt>
                <c:pt idx="2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On-time posts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</c:v>
                </c:pt>
                <c:pt idx="1">
                  <c:v>72.0</c:v>
                </c:pt>
                <c:pt idx="2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UGC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7.0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Resolved cases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21.0</c:v>
                </c:pt>
                <c:pt idx="2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52.0</c:v>
                </c:pt>
                <c:pt idx="2">
                  <c:v>68.0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conversion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2.1</c:v>
                </c:pt>
                <c:pt idx="2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2.6</c:v>
                </c:pt>
                <c:pt idx="2">
                  <c:v>3.7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1.6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Actionable insights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</c:v>
                </c:pt>
                <c:pt idx="1">
                  <c:v>11.0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20.0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112A49"/>
                </a:solidFill>
                <a:latin typeface="Aptos"/>
              </a:defRPr>
            </a:pPr>
            <a:r>
              <a:t>Generative AI for Social Media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91363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29A"/>
                </a:solidFill>
                <a:latin typeface="Aptos"/>
              </a:defRPr>
            </a:pPr>
            <a:r>
              <a:t>WSQ • TGS-2021003023 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754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686"/>
                </a:solidFill>
                <a:latin typeface="Aptos"/>
              </a:defRPr>
            </a:pPr>
            <a:r>
              <a:t>2 days • 16 hours</a:t>
            </a:r>
          </a:p>
          <a:p>
            <a:pPr>
              <a:defRPr sz="1400" b="0">
                <a:solidFill>
                  <a:srgbClr val="677686"/>
                </a:solidFill>
                <a:latin typeface="Aptos"/>
              </a:defRPr>
            </a:pPr>
            <a:r>
              <a:t>Version v1.1 • 13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447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A49"/>
                </a:solidFill>
                <a:latin typeface="Aptos"/>
              </a:defRPr>
            </a:pPr>
            <a: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47395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UEN 201200696W</a:t>
            </a:r>
          </a:p>
        </p:txBody>
      </p:sp>
      <p:pic>
        <p:nvPicPr>
          <p:cNvPr id="11" name="Picture 10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8600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Digital attendance and TRAQOM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WSQ attendance evidence • front-of-course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the trainer-provided SSG attendance QR for the morning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Record the afternoon session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Complete the assessment attendance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Complete the course quality survey when invited.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Trainer profile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Trainer details are completed for the actual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Role and credentials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Trainer name, relevant qualification and industry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Session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Demonstrate the workflow, review evidence, support practice and explain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Course developer and trainer profile • verified from supplied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Founder of Tertiary Courses; PhD in Electrical and Electronics Engineering, NUS.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Training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ACTA-certified trainer and DACE-certified curriculum developer; teaches AI and digital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Access map • current approved learner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lms-tms.tertiaryinfotech.com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Course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TGS-2021003023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Resource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Slides PDF, Learner Guide and labs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Current learner copy: 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goal to one primary conversion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01  •  Human approval precedes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business goal, audience, baseline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goal to one primary conversion event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SMART brief and KPI owner;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Choose lead volume only with quality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Leads: 18 → 25 → 32.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guardrail. Recheck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observed signal from AI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01  •  Human approval precedes publication.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aggregate insights, interview notes, consent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observed signal from AI inference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evidence-backed audience segment;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personas without a source and confidence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visits: 210 → 260 → 305.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tag. Recheck qualified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link each stage to content, CTA and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legacy:46-51  •  Lab 01  •  Human approval precedes publication.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awareness questions, comparison needs, conversion friction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link each stage to content, CTA and metric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journey-to-content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stage needs a testable next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1.5 → 2.1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legacy:46-51.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code hooks, proof, CTA and engagement by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legacy:52-55  •  Lab 01  •  Human approval precedes publication.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five public competitor posts, dates, formats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code hooks, proof, CTA and engagement by format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gap and differentiation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Adapt the unmet need, not the competitor wording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Save rate: 1.2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Save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wording. Recheck save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legacy:52-55.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constrain AI output with proof and prohibited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01  •  Human approval precedes publication.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offer facts, audience, exclusions, voice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constrain AI output with proof and prohibited claims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approved creative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Approve only claims supported by source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Approval rate: 42 → 65 → 81.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Approval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facts. Recheck approval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HBR.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educate, proof and offer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legacy:59-61  •  Lab 02  •  Human approval precedes publication.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brand goal, journey stages, available production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educate, proof and offer posts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four-week pillar mix;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Rebalance when a pillar misses its intended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actions: 14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actions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KPI. Recheck qualified actions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legacy:59-61.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supply structured context and acceptance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AI Strategy 2025  •  Lab 02  •  Human approval precedes publication.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role, audience, facts, format,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supply structured context and acceptance criteria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repeatable prompt template;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facts and output schema explicit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Usable drafts: 2 → 5 → 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Usable drafts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explicit. Recheck usable drafts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AI Strategy 2025.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trace every generated claim to approved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02  •  Human approval precedes publication.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sheet, price list, campaign brief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trace every generated claim to approved evidence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claim-to-source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Hold unverified comparative or health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Claims approved: 5 → 8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Claims approved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claims. Recheck claims approved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identify advocates and design a voluntary contribution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legacy:25,176-178  •  Lab 02  •  Human approval precedes publication.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feedback, permission log, loyalty goals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identify advocates and design a voluntary contribution loop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advocate engagement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consented stories with attribution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Opt-in advocates: 8 → 15 → 23.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Opt-in advocates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attribution. Recheck opt-in advocates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legacy:25,176-178.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derive allowable CPA and break-even 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legacy:163-174  •  Lab 02  •  Human approval precedes publication.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gross margin, conversion rate, media budget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derive allowable CPA and break-even ROAS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budget guardrail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Stop spend above allowable CPA after sufficient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Contribution margin: 20 → 28 → 36.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Contribution margin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evidence. Recheck contribution margin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legacy:163-174.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weight factors and score channels consistently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legacy:18-24  •  Lab 03  •  Human approval precedes publication.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audience fit, format fit, cost,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weight factors and score channels consistently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platform selection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Pilot only channels above threshold and with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Fit score: 58 → 72 → 83.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Fit score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owner. Recheck fit score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legacy:18-24.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 Feed, Stories or Reels to message and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legacy:67-95  •  Lab 03  •  Human approval precedes publication.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creative inventory, placement, audience behavior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match Feed, Stories or Reels to message and asset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format-to-CTA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motion where demonstration adds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Completion rate: 12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Completion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evidence. Recheck completion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legacy:67-95.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discovery and community service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legacy:98-104  •  Lab 03  •  Human approval precedes publication.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community intent, account assets,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discovery and community service objectives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cross-placement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creative adapted to placement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rate: 35 → 49 → 62.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context. Recheck response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legacy:98-104.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professional audience against acquisition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legacy:platforms  •  Lab 03  •  Human approval precedes publication.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buying committee, professional proof, lead value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professional audience against acquisition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B2B pilot rationale;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only when deal economics support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7 → 12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legacy:platforms.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hook retention and production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03  •  Human approval precedes publication.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demonstration potential, editing time, audience age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hook retention and production burden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video pilot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Require native-format proof before budget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3-second hold: 24 → 35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3-second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scale. Recheck 3-second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deduplicate target groups and set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legacy:137-139  •  Lab 04  •  Human approval precedes publication.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first-party segments, channel reach, frequency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deduplicate target groups and set exclusions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reach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Prioritize incremental reach over raw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Unique reach: 1200 → 1600 → 1950.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Unique reach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impressions. Recheck unique reach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legacy:137-139.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generated variants for local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Equinet  •  Lab 04  •  Human approval precedes publication.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Singapore language, price, cultural context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review generated variants for local accuracy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localization QA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unsupported local stereotypes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 relevance: 61 → 76 → 88.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 relevance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stereotypes. Recheck local relevance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Equinet.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estimate attainable leads with explicit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legacy:152  •  Lab 04  •  Human approval precedes publication.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addressable segment, reachable share, response rate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estimate attainable leads with explicit assumptions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funnel estimate;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Revise assumptions after pilot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Expected leads: 20 → 34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Expected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evidence. Recheck expected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legacy:152.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data need against privacy and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legacy:127-131  •  Lab 04  •  Human approval precedes publication.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data categories, pixel consent, vendor terms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data need against privacy and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privacy-aware platform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Avoid activating unconsented personal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Consented events: 40 → 65 → 86.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Consented events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data. Recheck consented events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legacy:127-131.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one variable while assigning equal budgets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legacy:153-158  •  Lab 04  •  Human approval precedes publication.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hypothesis, audience, success threshold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hold one variable while assigning equal budgets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pilot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Scale only after threshold and sample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1.1 → 1.5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legacy:153-158.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 hook, value, evidence and CTA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  •  Lab 05  •  Human approval precedes publication.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approved offer, proof points, persona question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generate hook, value, evidence and CTA variants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caption shortlist;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reviewer checks every fact and 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1.2 → 1.9 → 2.5.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descriptive tags with relevance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legacy:85-87  •  Lab 05  •  Human approval precedes publication.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topic taxonomy, local service area, platform policy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choose descriptive tags with relevance tests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tag and location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only tags tied to intent and geography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Discovery visits: 90 → 130 → 170.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Discovery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geography. Recheck discovery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legacy:85-87.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specify scene, composition and protected brand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05  •  Human approval precedes publication.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photo, usage rights, visual identity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specify scene, composition and protected brand elements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image generation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Review hands, product fidelity and disclosure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Asset approval: 45 → 65 → 82.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Asset approval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need. Risk: Generated products may misrepresent reality.</a:t>
            </a:r>
          </a:p>
        </p:txBody>
      </p:sp>
      <p:pic>
        <p:nvPicPr>
          <p:cNvPr id="16" name="Picture 15" descr="produc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sequence hook, demonstration, evidence and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legacy:90-96  •  Lab 05  •  Human approval precedes publication.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customer problem, proof, CTA, duration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sequence hook, demonstration, evidence and action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shot-by-shot storyboard;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Cut scenes that do not advance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6-second hold: 28 → 39 → 51.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6-second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message. Recheck 6-second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legacy:90-96.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 controlled variants and label each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McKinsey  •  Lab 05  •  Human approval precedes publication.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offer, three hooks, two visuals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cross controlled variants and label each cell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six-cell test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one causal variable per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clicks: 42 → 56 → 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clicks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comparison. Recheck qualified clicks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McKinsey.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campaign to ad set to ad with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legacy:105-126  •  Lab 06  •  Human approval precedes publication.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objective, audience, placement, creative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campaign to ad set to ad with ownership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editable hierarchy diagram;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Audit settings at each level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rate: 1.4 → 2 → 2.6.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release. Recheck lead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legacy:105-126.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spend by learning period and response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legacy:163-175  •  Lab 06  •  Human approval precedes publication.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daily cap, flight dates, business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spend by learning period and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flight and pacing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Pause when spend exceeds guardrail without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Cost per lead: 34 → 28 → 22.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Cost per lead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signals. Recheck cost per lead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legacy:163-175.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schedule adapted assets with reviewer 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legacy:159-160  •  Lab 06  •  Human approval precedes publication.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pillar mix, approvals, campaign dates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schedule adapted assets with reviewer checkpoints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calendar and status 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Publish only approved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On-time posts: 55 → 72 → 90.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On-time posts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versions. Recheck on-time posts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legacy:159-160.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verify usage scope before repost or AI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legacy:127-129,176-178  •  Lab 06  •  Human approval precedes publication.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post, consent record, attribution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verify usage scope before repost or AI edit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rights and approval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Archive proof of permission and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UGC: 4 → 7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UGC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expiry. Recheck approved ugc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legacy:127-129,176-178.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classify reply, escalation and private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legacy:176-178  •  Lab 06  •  Human approval precedes publication.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review sentiment, severity, order details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classify reply, escalation and private resolution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response decision tree;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handles safety, legal and personal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Resolved cases: 14 → 21 → 28.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Resolved cases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issues. Recheck resolved cases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legacy:176-178.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ad click to qualified lead and CRM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legacy:133-135,150-151  •  Lab 07  •  Human approval precedes publication.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landing page, click IDs, consent, lead form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ad click to qualified lead and CRM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event and UTM schema;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Validate event firing with test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Matched leads: 35 → 52 → 68.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Matched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conversion. Recheck matched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legacy:133-135,150-151.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diagnostic from outcome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legacy:136-141  •  Lab 07  •  Human approval precedes publication.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engagement, click, conversion,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diagnostic from outcome metrics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KPI dashboard model;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Judge campaign on objective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conversion: 1.3 → 2.1 → 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conversion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metric. Recheck lead conversion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legacy:136-141.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CTR and CPC by ad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legacy:138-140  •  Lab 07  •  Human approval precedes publication.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impressions, clicks, spend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CTR and CPC by ad variant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creative efficiency report;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Refresh hook when CTR falls with stable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CTR: 1.1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CTR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reach. Recheck ctr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legacy:138-140.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CPA, ROAS and contribution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legacy:141,168  •  Lab 07  •  Human approval precedes publication.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spend, tracked conversions,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CPA, ROAS and contribution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unit economics table;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Compare with margin-adjusted 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ROAS: 1.4 → 2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break-even. Recheck roas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legacy:141,168.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frequency and compare decay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legacy:137-138  •  Lab 07  •  Human approval precedes publication.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impressions, weekly creative response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frequency and compare decay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fatigue alert;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Rotate creative when frequency rises and CTR 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Frequency: 1.8 → 2.6 → 3.7.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Frequency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falls. Recheck frequency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legacy:137-138.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conversion and uncertainty before choosing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legacy:153-162  •  Lab 08  •  Human approval precedes publication.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two variants, same audience, sample size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conversion and uncertainty before choosing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test decision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Do not crown a winner on tiny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1.2 → 1.6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legacy:153-162.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ask AI to summarize changes with cited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legacy:142-149  •  Lab 08  •  Human approval precedes publication.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clean export, metric definitions, anomalies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ask AI to summarize changes with cited rows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reviewed weekly insight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statement must trace to data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Actionable insights: 2 → 4 → 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Actionable insights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cell. Risk: AI can invent causality from correlation.</a:t>
            </a:r>
          </a:p>
        </p:txBody>
      </p:sp>
      <p:pic>
        <p:nvPicPr>
          <p:cNvPr id="16" name="Picture 15" descr="analys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legacy:142-149.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build eligible audience with suppression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legacy:150-151  •  Lab 08  •  Human approval precedes publication.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consent, site visits, exclusions, window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build eligible audience with suppression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retargeting policy;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Exclude converters and honor consent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Recovered leads: 6 → 11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Recovered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changes. Recheck recovered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legacy:150-151.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shift spend toward incremental qualified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legacy:167-174  •  Lab 08  •  Human approval precedes publication.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segment CPA, lead quality, delivery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shift spend toward incremental qualified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reallocation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Reserve a test budget and cap downside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14 → 20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legacy:167-174.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AI-assisted workflow with control and risk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08  •  Human approval precedes publication.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baseline effort, cost, quality, outcomes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AI-assisted workflow with control and risk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impact scorecard;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Adopt only with measured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Hours saved: 4 → 8 → 12.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Hours saved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governance. Recheck hours saved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HBR.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Read the candidate instructions before the instruments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Work alone with approved open-book materials.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Seven open-ended K1–K7 questions • 60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 evidence tasks • A1–A6 • 90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the LMS-TMS upload path shown on the paper.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Two instruments assess knowledge and practical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WA (SAQ)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Explain planning, privacy, rights, scheduling, customer behaviour and UGC.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Submit a plan, platform decision, creative artifacts and performance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Evidence and sign-off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Seven open-ended knowledge responses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 practical artifacts from Labs 01–08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Assessor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Mark all K and A criteria C or NYC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Record feedback, result and appeal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Digital attendance and TRAQOM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End-of-course completion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AM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Confirm morning attendance.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PM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Confirm afternoon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Assessment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Confirm assessment attendance.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Complete the course quality survey.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Continue improving with reviewed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enquiry@tertiaryinfotech.com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https://www.tertiarycourses.com.sg/wsq-generative-ai-for-social-media-marketing.html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TGS-2021003023 •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